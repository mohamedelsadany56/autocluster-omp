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35" autoAdjust="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1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Speedup vs. Sequential Baseline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</c:v>
                </c:pt>
              </c:strCache>
            </c:strRef>
          </c:tx>
          <c:spPr>
            <a:solidFill>
              <a:srgbClr val="4A5E7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5B8-4EA9-B15C-78DBCD8D574F}"/>
              </c:ext>
            </c:extLst>
          </c:dPt>
          <c:dPt>
            <c:idx val="1"/>
            <c:invertIfNegative val="0"/>
            <c:bubble3D val="0"/>
            <c:spPr>
              <a:solidFill>
                <a:srgbClr val="FF3D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5B8-4EA9-B15C-78DBCD8D574F}"/>
              </c:ext>
            </c:extLst>
          </c:dPt>
          <c:dPt>
            <c:idx val="2"/>
            <c:invertIfNegative val="0"/>
            <c:bubble3D val="0"/>
            <c:spPr>
              <a:solidFill>
                <a:srgbClr val="00AA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5B8-4EA9-B15C-78DBCD8D574F}"/>
              </c:ext>
            </c:extLst>
          </c:dPt>
          <c:dPt>
            <c:idx val="3"/>
            <c:invertIfNegative val="0"/>
            <c:bubble3D val="0"/>
            <c:spPr>
              <a:solidFill>
                <a:srgbClr val="0088B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5B8-4EA9-B15C-78DBCD8D574F}"/>
              </c:ext>
            </c:extLst>
          </c:dPt>
          <c:dPt>
            <c:idx val="4"/>
            <c:invertIfNegative val="0"/>
            <c:bubble3D val="0"/>
            <c:spPr>
              <a:solidFill>
                <a:srgbClr val="00D4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5B8-4EA9-B15C-78DBCD8D57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Sequential Baseline,1.00</c:v>
                </c:pt>
                <c:pt idx="1">
                  <c:v>K-Means Auto OpenMP,4.37</c:v>
                </c:pt>
                <c:pt idx="2">
                  <c:v>Fuzzy C-Means Auto OpenMP,4.32</c:v>
                </c:pt>
                <c:pt idx="3">
                  <c:v>Best FCM Schedule Sweep,5.12</c:v>
                </c:pt>
                <c:pt idx="4">
                  <c:v>8 Threads
(3.13x)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0.83</c:v>
                </c:pt>
                <c:pt idx="2">
                  <c:v>1.37</c:v>
                </c:pt>
                <c:pt idx="3">
                  <c:v>2.54</c:v>
                </c:pt>
                <c:pt idx="4">
                  <c:v>3.13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5B8-4EA9-B15C-78DBCD8D57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4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FFFFF"/>
                </a:solidFill>
                <a:latin typeface="Arial"/>
              </a:rPr>
              <a:t>Runtime Reduction (seconds)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Runtime (s)</c:v>
                </c:pt>
              </c:strCache>
            </c:strRef>
          </c:tx>
          <c:spPr>
            <a:ln w="38100" cap="flat">
              <a:solidFill>
                <a:srgbClr val="00D4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FF"/>
              </a:solidFill>
              <a:ln w="9525" cap="flat">
                <a:solidFill>
                  <a:srgbClr val="00D4FF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K-Means Seq,5.732</c:v>
                </c:pt>
                <c:pt idx="1">
                  <c:v>K-Means Auto OMP×8,1.311</c:v>
                </c:pt>
                <c:pt idx="2">
                  <c:v>FCM Seq,20.952</c:v>
                </c:pt>
                <c:pt idx="3">
                  <c:v>FCM Auto OMP×8,4.847</c:v>
                </c:pt>
                <c:pt idx="4">
                  <c:v>Best FCM Sweep,4.666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4.2809999999999997</c:v>
                </c:pt>
                <c:pt idx="1">
                  <c:v>5.1879999999999997</c:v>
                </c:pt>
                <c:pt idx="2">
                  <c:v>3.1309999999999998</c:v>
                </c:pt>
                <c:pt idx="3">
                  <c:v>1.6830000000000001</c:v>
                </c:pt>
                <c:pt idx="4">
                  <c:v>1.369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28E-4FCB-B4D2-ACF37D7270E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42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Parallel Efficiency by Thread Count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(%)</c:v>
                </c:pt>
              </c:strCache>
            </c:strRef>
          </c:tx>
          <c:spPr>
            <a:ln w="38100" cap="flat">
              <a:solidFill>
                <a:srgbClr val="FFB8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800"/>
              </a:solidFill>
              <a:ln w="9525" cap="flat">
                <a:solidFill>
                  <a:srgbClr val="FFB8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1T,100</c:v>
                </c:pt>
                <c:pt idx="1">
                  <c:v>2T,91</c:v>
                </c:pt>
                <c:pt idx="2">
                  <c:v>4T,81</c:v>
                </c:pt>
                <c:pt idx="3">
                  <c:v>8T,55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68.5</c:v>
                </c:pt>
                <c:pt idx="2">
                  <c:v>63.5</c:v>
                </c:pt>
                <c:pt idx="3">
                  <c:v>39.1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68E-4F71-B1B4-12217E53954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8C4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14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507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chart" Target="../charts/char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CSCI465 Introduction to Parallel Computing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4360" y="114300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AutoCluster-OMP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Source-to-Source OpenMP Auto-Parallelizer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K-Means and Fuzzy C-Means Clustering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3429000"/>
            <a:ext cx="4572000" cy="27432"/>
          </a:xfrm>
          <a:prstGeom prst="rect">
            <a:avLst/>
          </a:prstGeom>
          <a:solidFill>
            <a:srgbClr val="00D4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Yasser Goma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Ismail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47091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Khaled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40480" y="4069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Saleh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40480" y="4389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Sayed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640080"/>
            <a:ext cx="3474720" cy="43891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0" y="6355080"/>
            <a:ext cx="12161520" cy="5029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0" y="641908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AutoCluster-OMP  ·  Parallel Computing Research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5212080" cy="21031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63040"/>
            <a:ext cx="36576" cy="201168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7373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at Scale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3152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Fuzzy C-Means are core to ML, data science, and pattern recognition — but runtime explodes with scale.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80760" y="1417320"/>
            <a:ext cx="5212080" cy="21031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080760" y="1463040"/>
            <a:ext cx="36576" cy="2011680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7373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Potential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09360" y="219456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CPUs have 8–64 cores. OpenMP unlocks them — but harnessing that power requires expertise.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02920" y="3749040"/>
            <a:ext cx="5212080" cy="21031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502920" y="3794760"/>
            <a:ext cx="36576" cy="201168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0690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Parallelization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73152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must manually identify safe loops, understand data dependencies, and avoid race conditions.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6080760" y="3749040"/>
            <a:ext cx="5212080" cy="21031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6080760" y="3794760"/>
            <a:ext cx="36576" cy="201168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406908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4944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Opportunity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309360" y="45262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Source-to-source auto-parallelization can generate correct OpenMP code without manual effort.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3017520" cy="2560320"/>
          </a:xfrm>
          <a:prstGeom prst="rect">
            <a:avLst/>
          </a:prstGeom>
          <a:solidFill>
            <a:srgbClr val="0A1428"/>
          </a:solidFill>
          <a:ln w="19050">
            <a:solidFill>
              <a:srgbClr val="FF3D5E"/>
            </a:solidFill>
            <a:prstDash val="solid"/>
          </a:ln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224028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063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566160" y="2743200"/>
            <a:ext cx="521208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3977640" y="2697480"/>
            <a:ext cx="109728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114800" y="1463040"/>
            <a:ext cx="3017520" cy="2560320"/>
          </a:xfrm>
          <a:prstGeom prst="rect">
            <a:avLst/>
          </a:prstGeom>
          <a:solidFill>
            <a:srgbClr val="0A1428"/>
          </a:solidFill>
          <a:ln w="19050">
            <a:solidFill>
              <a:srgbClr val="FFB800"/>
            </a:solidFill>
            <a:prstDash val="solid"/>
          </a:ln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0" y="1508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2240280"/>
            <a:ext cx="731520" cy="7315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06240" y="3063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7132320" y="2743200"/>
            <a:ext cx="521208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543800" y="2697480"/>
            <a:ext cx="109728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680960" y="1463040"/>
            <a:ext cx="3017520" cy="2560320"/>
          </a:xfrm>
          <a:prstGeom prst="rect">
            <a:avLst/>
          </a:prstGeom>
          <a:solidFill>
            <a:srgbClr val="0A1428"/>
          </a:solidFill>
          <a:ln w="19050">
            <a:solidFill>
              <a:srgbClr val="FF3D5E"/>
            </a:solidFill>
            <a:prstDash val="solid"/>
          </a:ln>
          <a:effectLst>
            <a:outerShdw blurRad="2032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7680960" y="15087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2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24028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772400" y="306324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48640" y="4297680"/>
            <a:ext cx="11064240" cy="1371600"/>
          </a:xfrm>
          <a:prstGeom prst="rect">
            <a:avLst/>
          </a:prstGeom>
          <a:solidFill>
            <a:srgbClr val="061830"/>
          </a:solidFill>
          <a:ln w="12700">
            <a:solidFill>
              <a:srgbClr val="00D4FF"/>
            </a:solidFill>
            <a:prstDash val="solid"/>
          </a:ln>
          <a:effectLst>
            <a:outerShdw blurRad="254000" dist="50800" dir="8100000" algn="bl" rotWithShape="0">
              <a:srgbClr val="00D4FF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548640" y="4325112"/>
            <a:ext cx="36576" cy="131673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8580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85800" y="46634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automatically detect and parallelize common clustering loop patterns using OpenMP while preserving correctness?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Research Gap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303520" cy="429768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36576" cy="420624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4864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171907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Multicore K-Means parallelization with OpenMP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587752"/>
            <a:ext cx="54864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22960" y="2523744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OpenACC-based K-Means for GPU acceleration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392424"/>
            <a:ext cx="54864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3328416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Fuzzy C-Means for large-scale datasets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4197096"/>
            <a:ext cx="54864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2960" y="4133088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Thread-parallel centroid computation studies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1325880"/>
            <a:ext cx="5303520" cy="429768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55080" y="1371600"/>
            <a:ext cx="36576" cy="4206240"/>
          </a:xfrm>
          <a:prstGeom prst="rect">
            <a:avLst/>
          </a:prstGeom>
          <a:solidFill>
            <a:srgbClr val="FF3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92240" y="1417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92240" y="1755648"/>
            <a:ext cx="4846320" cy="685800"/>
          </a:xfrm>
          <a:prstGeom prst="rect">
            <a:avLst/>
          </a:prstGeom>
          <a:solidFill>
            <a:srgbClr val="140020"/>
          </a:solidFill>
          <a:ln w="12700">
            <a:solidFill>
              <a:srgbClr val="2A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629400" y="18013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Only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29400" y="20756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approaches rely on hand-coded parallelism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92240" y="2578608"/>
            <a:ext cx="4846320" cy="685800"/>
          </a:xfrm>
          <a:prstGeom prst="rect">
            <a:avLst/>
          </a:prstGeom>
          <a:solidFill>
            <a:srgbClr val="140020"/>
          </a:solidFill>
          <a:ln w="12700">
            <a:solidFill>
              <a:srgbClr val="2A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29400" y="2624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Auto-Generator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629400" y="2898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source-to-source OpenMP pragma inserter exists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92240" y="3401568"/>
            <a:ext cx="4846320" cy="685800"/>
          </a:xfrm>
          <a:prstGeom prst="rect">
            <a:avLst/>
          </a:prstGeom>
          <a:solidFill>
            <a:srgbClr val="140020"/>
          </a:solidFill>
          <a:ln w="12700">
            <a:solidFill>
              <a:srgbClr val="2A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629400" y="34472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Classification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629400" y="3721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loop types are not automatically classified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492240" y="4224528"/>
            <a:ext cx="4846320" cy="685800"/>
          </a:xfrm>
          <a:prstGeom prst="rect">
            <a:avLst/>
          </a:prstGeom>
          <a:solidFill>
            <a:srgbClr val="140020"/>
          </a:solidFill>
          <a:ln w="12700">
            <a:solidFill>
              <a:srgbClr val="2A00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629400" y="4270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Framework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629400" y="4544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and FCM require separate ad-hoc solutions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43600" y="1371600"/>
            <a:ext cx="36576" cy="4206240"/>
          </a:xfrm>
          <a:prstGeom prst="rect">
            <a:avLst/>
          </a:prstGeom>
          <a:solidFill>
            <a:srgbClr val="4A5E7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669280" y="32004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02920" y="11887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AutoCluster-OMP: An end-to-end automatic OpenMP parallelization prototype for clustering workloads.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173736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" y="1773936"/>
            <a:ext cx="36576" cy="18470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840" y="181051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Sequential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Code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108960" y="2697480"/>
            <a:ext cx="201168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10128" y="173736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310128" y="1773936"/>
            <a:ext cx="36576" cy="184708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401568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81051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01568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For-Loops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16168" y="2697480"/>
            <a:ext cx="201168" cy="0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117336" y="173736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7B2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117336" y="1773936"/>
            <a:ext cx="36576" cy="1847088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6208776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56" y="181051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08776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Loop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723376" y="2697480"/>
            <a:ext cx="201168" cy="0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924544" y="173736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7B2FFF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8924544" y="1773936"/>
            <a:ext cx="36576" cy="1847088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9015984" y="181051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70464" y="181051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015984" y="228600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Check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222992" y="3657600"/>
            <a:ext cx="0" cy="292608"/>
          </a:xfrm>
          <a:prstGeom prst="line">
            <a:avLst/>
          </a:prstGeom>
          <a:noFill/>
          <a:ln w="1270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02920" y="397764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FF8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5"/>
          <p:cNvSpPr/>
          <p:nvPr/>
        </p:nvSpPr>
        <p:spPr>
          <a:xfrm>
            <a:off x="502920" y="4014216"/>
            <a:ext cx="36576" cy="184708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94360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8840" y="4050792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94360" y="4526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Code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3108960" y="4937760"/>
            <a:ext cx="201168" cy="0"/>
          </a:xfrm>
          <a:prstGeom prst="line">
            <a:avLst/>
          </a:prstGeom>
          <a:noFill/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310128" y="397764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00FF8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3310128" y="4014216"/>
            <a:ext cx="36576" cy="184708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3401568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048" y="4050792"/>
            <a:ext cx="457200" cy="45720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3401568" y="4526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Build</a:t>
            </a:r>
            <a:endParaRPr lang="en-US" sz="1300" dirty="0"/>
          </a:p>
        </p:txBody>
      </p:sp>
      <p:sp>
        <p:nvSpPr>
          <p:cNvPr id="42" name="Shape 33"/>
          <p:cNvSpPr/>
          <p:nvPr/>
        </p:nvSpPr>
        <p:spPr>
          <a:xfrm>
            <a:off x="5916168" y="4937760"/>
            <a:ext cx="201168" cy="0"/>
          </a:xfrm>
          <a:prstGeom prst="line">
            <a:avLst/>
          </a:prstGeom>
          <a:noFill/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117336" y="397764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FFB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5"/>
          <p:cNvSpPr/>
          <p:nvPr/>
        </p:nvSpPr>
        <p:spPr>
          <a:xfrm>
            <a:off x="6117336" y="4014216"/>
            <a:ext cx="36576" cy="184708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6"/>
          <p:cNvSpPr/>
          <p:nvPr/>
        </p:nvSpPr>
        <p:spPr>
          <a:xfrm>
            <a:off x="6208776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63256" y="4050792"/>
            <a:ext cx="457200" cy="45720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6208776" y="4526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8723376" y="4937760"/>
            <a:ext cx="201168" cy="0"/>
          </a:xfrm>
          <a:prstGeom prst="line">
            <a:avLst/>
          </a:prstGeom>
          <a:noFill/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8924544" y="3977640"/>
            <a:ext cx="2606040" cy="1920240"/>
          </a:xfrm>
          <a:prstGeom prst="rect">
            <a:avLst/>
          </a:prstGeom>
          <a:solidFill>
            <a:srgbClr val="0A1428"/>
          </a:solidFill>
          <a:ln w="12700">
            <a:solidFill>
              <a:srgbClr val="FFB800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0"/>
          <p:cNvSpPr/>
          <p:nvPr/>
        </p:nvSpPr>
        <p:spPr>
          <a:xfrm>
            <a:off x="8924544" y="4014216"/>
            <a:ext cx="36576" cy="184708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1"/>
          <p:cNvSpPr/>
          <p:nvPr/>
        </p:nvSpPr>
        <p:spPr>
          <a:xfrm>
            <a:off x="9015984" y="40507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400" dirty="0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70464" y="4050792"/>
            <a:ext cx="457200" cy="45720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015984" y="452628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Plots</a:t>
            </a:r>
            <a:endParaRPr lang="en-US" sz="1300" dirty="0"/>
          </a:p>
        </p:txBody>
      </p:sp>
      <p:sp>
        <p:nvSpPr>
          <p:cNvPr id="54" name="Text 4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3434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4A5E7A"/>
            </a:solidFill>
            <a:prstDash val="solid"/>
          </a:ln>
          <a:effectLst>
            <a:outerShdw blurRad="177800" dist="50800" dir="8100000" algn="bl" rotWithShape="0">
              <a:srgbClr val="4A5E7A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34340" y="2011680"/>
            <a:ext cx="1691640" cy="73152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1005840" y="2176272"/>
            <a:ext cx="548640" cy="548640"/>
          </a:xfrm>
          <a:prstGeom prst="line">
            <a:avLst/>
          </a:prstGeom>
          <a:solidFill>
            <a:srgbClr val="4A5E7A">
              <a:alpha val="30000"/>
            </a:srgbClr>
          </a:solidFill>
          <a:ln w="1270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2578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71700" y="3200400"/>
            <a:ext cx="164592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290572" y="3145536"/>
            <a:ext cx="91440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235458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D4F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354580" y="2011680"/>
            <a:ext cx="169164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926080" y="2176272"/>
            <a:ext cx="548640" cy="548640"/>
          </a:xfrm>
          <a:prstGeom prst="lin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92608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44602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244602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091940" y="3200400"/>
            <a:ext cx="164592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10812" y="3145536"/>
            <a:ext cx="91440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27482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D4F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274820" y="2011680"/>
            <a:ext cx="1691640" cy="73152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846320" y="2176272"/>
            <a:ext cx="548640" cy="548640"/>
          </a:xfrm>
          <a:prstGeom prst="lin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4632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36626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36626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012180" y="3200400"/>
            <a:ext cx="164592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131052" y="3145536"/>
            <a:ext cx="91440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619506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7B2FFF"/>
            </a:solidFill>
            <a:prstDash val="solid"/>
          </a:ln>
          <a:effectLst>
            <a:outerShdw blurRad="177800" dist="50800" dir="8100000" algn="bl" rotWithShape="0">
              <a:srgbClr val="7B2FF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6195060" y="2011680"/>
            <a:ext cx="1691640" cy="73152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766560" y="2176272"/>
            <a:ext cx="548640" cy="548640"/>
          </a:xfrm>
          <a:prstGeom prst="line">
            <a:avLst/>
          </a:prstGeom>
          <a:solidFill>
            <a:srgbClr val="7B2FFF">
              <a:alpha val="3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76656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28650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28650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7932420" y="3200400"/>
            <a:ext cx="164592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8051292" y="3145536"/>
            <a:ext cx="91440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811530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00FF88"/>
            </a:solidFill>
            <a:prstDash val="solid"/>
          </a:ln>
          <a:effectLst>
            <a:outerShdw blurRad="177800" dist="50800" dir="8100000" algn="bl" rotWithShape="0">
              <a:srgbClr val="00FF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8115300" y="2011680"/>
            <a:ext cx="1691640" cy="73152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8686800" y="2176272"/>
            <a:ext cx="548640" cy="548640"/>
          </a:xfrm>
          <a:prstGeom prst="line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68680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820674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820674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9852660" y="3200400"/>
            <a:ext cx="164592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9971532" y="3145536"/>
            <a:ext cx="91440" cy="109728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10035540" y="2011680"/>
            <a:ext cx="1691640" cy="2377440"/>
          </a:xfrm>
          <a:prstGeom prst="rect">
            <a:avLst/>
          </a:prstGeom>
          <a:solidFill>
            <a:srgbClr val="0A1428"/>
          </a:solidFill>
          <a:ln w="19050">
            <a:solidFill>
              <a:srgbClr val="FFB800"/>
            </a:solidFill>
            <a:prstDash val="solid"/>
          </a:ln>
          <a:effectLst>
            <a:outerShdw blurRad="177800" dist="50800" dir="8100000" algn="bl" rotWithShape="0">
              <a:srgbClr val="FFB8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10035540" y="2011680"/>
            <a:ext cx="1691640" cy="73152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10607040" y="2176272"/>
            <a:ext cx="548640" cy="548640"/>
          </a:xfrm>
          <a:prstGeom prst="line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10607040" y="2176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10126980" y="2834640"/>
            <a:ext cx="1508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Validate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10126980" y="37490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-114300" y="3017520"/>
            <a:ext cx="502920" cy="365760"/>
          </a:xfrm>
          <a:prstGeom prst="rect">
            <a:avLst/>
          </a:prstGeom>
          <a:solidFill>
            <a:srgbClr val="4A5E7A">
              <a:alpha val="30000"/>
            </a:srgbClr>
          </a:solidFill>
          <a:ln w="1270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-114300" y="301752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388620" y="3200400"/>
            <a:ext cx="45720" cy="0"/>
          </a:xfrm>
          <a:prstGeom prst="line">
            <a:avLst/>
          </a:prstGeom>
          <a:noFill/>
          <a:ln w="19050">
            <a:solidFill>
              <a:srgbClr val="4A5E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1727180" y="3200400"/>
            <a:ext cx="91440" cy="0"/>
          </a:xfrm>
          <a:prstGeom prst="line">
            <a:avLst/>
          </a:prstGeom>
          <a:noFill/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11818620" y="3017520"/>
            <a:ext cx="548640" cy="365760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181862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2920" y="4846320"/>
            <a:ext cx="2606040" cy="502920"/>
          </a:xfrm>
          <a:prstGeom prst="rect">
            <a:avLst/>
          </a:prstGeom>
          <a:solidFill>
            <a:srgbClr val="0A1428"/>
          </a:solidFill>
          <a:ln w="889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502920" y="4873752"/>
            <a:ext cx="36576" cy="44805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594360" y="48737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C Files</a:t>
            </a:r>
            <a:endParaRPr lang="en-US" sz="1200" dirty="0"/>
          </a:p>
        </p:txBody>
      </p:sp>
      <p:sp>
        <p:nvSpPr>
          <p:cNvPr id="61" name="Shape 58"/>
          <p:cNvSpPr/>
          <p:nvPr/>
        </p:nvSpPr>
        <p:spPr>
          <a:xfrm>
            <a:off x="3383280" y="4846320"/>
            <a:ext cx="2606040" cy="502920"/>
          </a:xfrm>
          <a:prstGeom prst="rect">
            <a:avLst/>
          </a:prstGeom>
          <a:solidFill>
            <a:srgbClr val="0A1428"/>
          </a:solidFill>
          <a:ln w="889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3383280" y="4873752"/>
            <a:ext cx="36576" cy="44805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3474720" y="48737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Reports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6263640" y="4846320"/>
            <a:ext cx="2606040" cy="502920"/>
          </a:xfrm>
          <a:prstGeom prst="rect">
            <a:avLst/>
          </a:prstGeom>
          <a:solidFill>
            <a:srgbClr val="0A1428"/>
          </a:solidFill>
          <a:ln w="889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2"/>
          <p:cNvSpPr/>
          <p:nvPr/>
        </p:nvSpPr>
        <p:spPr>
          <a:xfrm>
            <a:off x="6263640" y="4873752"/>
            <a:ext cx="36576" cy="44805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6355080" y="48737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Analysis</a:t>
            </a:r>
            <a:endParaRPr lang="en-US" sz="1200" dirty="0"/>
          </a:p>
        </p:txBody>
      </p:sp>
      <p:sp>
        <p:nvSpPr>
          <p:cNvPr id="67" name="Shape 64"/>
          <p:cNvSpPr/>
          <p:nvPr/>
        </p:nvSpPr>
        <p:spPr>
          <a:xfrm>
            <a:off x="9144000" y="4846320"/>
            <a:ext cx="2606040" cy="502920"/>
          </a:xfrm>
          <a:prstGeom prst="rect">
            <a:avLst/>
          </a:prstGeom>
          <a:solidFill>
            <a:srgbClr val="0A1428"/>
          </a:solidFill>
          <a:ln w="889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9144000" y="4873752"/>
            <a:ext cx="36576" cy="448056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9235440" y="48737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Plots</a:t>
            </a:r>
            <a:endParaRPr lang="en-US" sz="1200" dirty="0"/>
          </a:p>
        </p:txBody>
      </p:sp>
      <p:sp>
        <p:nvSpPr>
          <p:cNvPr id="70" name="Text 6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CLUSTERING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Auto-Parallelization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5303520" cy="196596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17320"/>
            <a:ext cx="36576" cy="1874520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CODE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n;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= </a:t>
            </a:r>
            <a:r>
              <a:rPr lang="en-US" sz="12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best_cluster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3520440"/>
            <a:ext cx="5303520" cy="214884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3566160"/>
            <a:ext cx="36576" cy="20574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36118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OPENMP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94360" y="3886200"/>
            <a:ext cx="5029200" cy="320040"/>
          </a:xfrm>
          <a:prstGeom prst="rect">
            <a:avLst/>
          </a:prstGeom>
          <a:solidFill>
            <a:srgbClr val="00FF88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1792" y="39136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schedule(static)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4224528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n;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[i] = </a:t>
            </a:r>
            <a:r>
              <a:rPr lang="en-US" sz="12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best_cluster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92240" y="1417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SAFE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783080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49440" y="17556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processed independently — no shared state</a:t>
            </a:r>
            <a:endParaRPr lang="en-US" sz="12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51460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49440" y="2487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iteration writes to unique labels[i] memory location</a:t>
            </a:r>
            <a:endParaRPr lang="en-US" sz="1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24612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32186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are read-only during the assignment step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3657600"/>
            <a:ext cx="5212080" cy="20116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C-Means Auto-Parallelization</a:t>
            </a:r>
            <a:endParaRPr lang="en-US" sz="3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25880"/>
            <a:ext cx="3017520" cy="27432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749040" y="1325880"/>
            <a:ext cx="7909560" cy="219456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3749040" y="1371600"/>
            <a:ext cx="36576" cy="2103120"/>
          </a:xfrm>
          <a:prstGeom prst="rect">
            <a:avLst/>
          </a:prstGeom>
          <a:solidFill>
            <a:srgbClr val="4A5E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38862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CODE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840480" y="1691640"/>
            <a:ext cx="7589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n;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c = 0; c &lt; k; c++)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[i*k+c] = </a:t>
            </a:r>
            <a:r>
              <a:rPr lang="en-US" sz="12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749040" y="3703320"/>
            <a:ext cx="7909560" cy="23317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749040" y="3749040"/>
            <a:ext cx="36576" cy="2240280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886200" y="37947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OPENMP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3840480" y="4069080"/>
            <a:ext cx="7589520" cy="320040"/>
          </a:xfrm>
          <a:prstGeom prst="rect">
            <a:avLst/>
          </a:prstGeom>
          <a:solidFill>
            <a:srgbClr val="7B2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867912" y="409651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schedule(static)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840480" y="4416552"/>
            <a:ext cx="7589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i = 0; i &lt; n; i++)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(int c = 0; c &lt; k; c++)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[i*k+c] = </a:t>
            </a:r>
            <a:r>
              <a:rPr lang="en-US" sz="1200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7548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47274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write to different memory cells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519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68680" y="4224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owns a separate membership row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25780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68680" y="52303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threads update the same membership[i*k+c]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Classification &amp; Safety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6858000" cy="749808"/>
          </a:xfrm>
          <a:prstGeom prst="rect">
            <a:avLst/>
          </a:prstGeom>
          <a:solidFill>
            <a:srgbClr val="002010"/>
          </a:solidFill>
          <a:ln w="12700">
            <a:solidFill>
              <a:srgbClr val="00FF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0020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24712" y="15544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kmeans_assignment_loop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263640" y="1572768"/>
            <a:ext cx="960120" cy="429768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263640" y="157276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2286000"/>
            <a:ext cx="6858000" cy="749808"/>
          </a:xfrm>
          <a:prstGeom prst="rect">
            <a:avLst/>
          </a:prstGeom>
          <a:solidFill>
            <a:srgbClr val="002010"/>
          </a:solidFill>
          <a:ln w="12700">
            <a:solidFill>
              <a:srgbClr val="00FF8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6888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24712" y="2423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fuzzy_membership_update_loop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263640" y="2441448"/>
            <a:ext cx="960120" cy="429768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6263640" y="244144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02920" y="3154680"/>
            <a:ext cx="6858000" cy="749808"/>
          </a:xfrm>
          <a:prstGeom prst="rect">
            <a:avLst/>
          </a:prstGeom>
          <a:solidFill>
            <a:srgbClr val="20100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33756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24712" y="3291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centroid_update_loop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263640" y="3310128"/>
            <a:ext cx="960120" cy="429768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263640" y="331012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02920" y="4023360"/>
            <a:ext cx="6858000" cy="749808"/>
          </a:xfrm>
          <a:prstGeom prst="rect">
            <a:avLst/>
          </a:prstGeom>
          <a:solidFill>
            <a:srgbClr val="201000"/>
          </a:solidFill>
          <a:ln w="12700">
            <a:solidFill>
              <a:srgbClr val="FFB8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206240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24712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possible_reduction_loop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6263640" y="4178808"/>
            <a:ext cx="960120" cy="429768"/>
          </a:xfrm>
          <a:prstGeom prst="rect">
            <a:avLst/>
          </a:prstGeom>
          <a:solidFill>
            <a:srgbClr val="FFB800">
              <a:alpha val="3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263640" y="417880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02920" y="4892040"/>
            <a:ext cx="6858000" cy="749808"/>
          </a:xfrm>
          <a:prstGeom prst="rect">
            <a:avLst/>
          </a:prstGeom>
          <a:solidFill>
            <a:srgbClr val="200010"/>
          </a:solidFill>
          <a:ln w="12700">
            <a:solidFill>
              <a:srgbClr val="FF3D5E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074920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124712" y="5029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unknown_loop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263640" y="5047488"/>
            <a:ext cx="960120" cy="429768"/>
          </a:xfrm>
          <a:prstGeom prst="rect">
            <a:avLst/>
          </a:prstGeom>
          <a:solidFill>
            <a:srgbClr val="FF3D5E">
              <a:alpha val="30000"/>
            </a:srgbClr>
          </a:solidFill>
          <a:ln w="12700">
            <a:solidFill>
              <a:srgbClr val="FF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2"/>
          <p:cNvSpPr/>
          <p:nvPr/>
        </p:nvSpPr>
        <p:spPr>
          <a:xfrm>
            <a:off x="6263640" y="5047488"/>
            <a:ext cx="96012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635240" y="1417320"/>
            <a:ext cx="4023360" cy="292608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7635240" y="1463040"/>
            <a:ext cx="36576" cy="2834640"/>
          </a:xfrm>
          <a:prstGeom prst="rect">
            <a:avLst/>
          </a:prstGeom>
          <a:solidFill>
            <a:srgbClr val="FF3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7772400" y="1508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EXAMPLE</a:t>
            </a:r>
            <a:endParaRPr lang="en-US" sz="800" dirty="0"/>
          </a:p>
        </p:txBody>
      </p:sp>
      <p:sp>
        <p:nvSpPr>
          <p:cNvPr id="34" name="Text 26"/>
          <p:cNvSpPr/>
          <p:nvPr/>
        </p:nvSpPr>
        <p:spPr>
          <a:xfrm>
            <a:off x="7726680" y="182880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3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centroid_counts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[cluster]++;
</a:t>
            </a:r>
            <a:r>
              <a:rPr lang="en-US" sz="1100" dirty="0">
                <a:solidFill>
                  <a:srgbClr val="FF3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centroid_sums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[cluster*d+f] +=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[i*d+f];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7726680" y="3246120"/>
            <a:ext cx="3749040" cy="1005840"/>
          </a:xfrm>
          <a:prstGeom prst="rect">
            <a:avLst/>
          </a:prstGeom>
          <a:solidFill>
            <a:srgbClr val="180010"/>
          </a:solidFill>
          <a:ln w="8890">
            <a:solidFill>
              <a:srgbClr val="FF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8"/>
          <p:cNvSpPr/>
          <p:nvPr/>
        </p:nvSpPr>
        <p:spPr>
          <a:xfrm>
            <a:off x="7818120" y="3310128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Multiple threads may update the same centroid accumulator simultaneously — causing a race condition.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502920" y="5989320"/>
            <a:ext cx="201168" cy="201168"/>
          </a:xfrm>
          <a:prstGeom prst="line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77724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auto-parallelized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4343400" y="5989320"/>
            <a:ext cx="201168" cy="201168"/>
          </a:xfrm>
          <a:prstGeom prst="line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461772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— manual review needed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183880" y="5989320"/>
            <a:ext cx="201168" cy="201168"/>
          </a:xfrm>
          <a:prstGeom prst="line">
            <a:avLst/>
          </a:prstGeom>
          <a:solidFill>
            <a:srgbClr val="FF3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8458200" y="5943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— skipped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Label"/>
          <p:cNvSpPr/>
          <p:nvPr/>
        </p:nvSpPr>
        <p:spPr>
          <a:xfrm>
            <a:off x="548640" y="274320"/>
            <a:ext cx="600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D4FF"/>
                </a:solidFill>
                <a:latin typeface="Calibri" pitchFamily="34" charset="0"/>
              </a:rPr>
              <a:t>IMPLEMENTATION</a:t>
            </a:r>
          </a:p>
        </p:txBody>
      </p:sp>
      <p:sp>
        <p:nvSpPr>
          <p:cNvPr id="5" name="Text Title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</a:rPr>
              <a:t>Implementation Details</a:t>
            </a:r>
          </a:p>
        </p:txBody>
      </p:sp>
      <p:sp>
        <p:nvSpPr>
          <p:cNvPr id="10" name="Box CKernels"/>
          <p:cNvSpPr/>
          <p:nvPr/>
        </p:nvSpPr>
        <p:spPr>
          <a:xfrm>
            <a:off x="502920" y="1371600"/>
            <a:ext cx="3429000" cy="4800600"/>
          </a:xfrm>
          <a:prstGeom prst="rect">
            <a:avLst/>
          </a:prstGeom>
          <a:solidFill>
            <a:srgbClr val="0A1428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Header CKernels"/>
          <p:cNvSpPr/>
          <p:nvPr/>
        </p:nvSpPr>
        <p:spPr>
          <a:xfrm>
            <a:off x="502920" y="1371600"/>
            <a:ext cx="3429000" cy="502920"/>
          </a:xfrm>
          <a:prstGeom prst="rect">
            <a:avLst/>
          </a:prstGeom>
          <a:solidFill>
            <a:srgbClr val="00D4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CKernelsHeader"/>
          <p:cNvSpPr/>
          <p:nvPr/>
        </p:nvSpPr>
        <p:spPr>
          <a:xfrm>
            <a:off x="594360" y="1417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</a:rPr>
              <a:t>C Kernels</a:t>
            </a:r>
          </a:p>
        </p:txBody>
      </p:sp>
      <p:sp>
        <p:nvSpPr>
          <p:cNvPr id="13" name="Text CKernelFiles"/>
          <p:cNvSpPr/>
          <p:nvPr/>
        </p:nvSpPr>
        <p:spPr>
          <a:xfrm>
            <a:off x="640080" y="1965960"/>
            <a:ext cx="3246120" cy="412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B8C4D4"/>
                </a:solidFill>
                <a:latin typeface="Consolas" pitchFamily="34" charset="0"/>
              </a:rPr>
              <a:t>kmeans_seq.c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B8C4D4"/>
                </a:solidFill>
                <a:latin typeface="Consolas" pitchFamily="34" charset="0"/>
              </a:rPr>
              <a:t>kmeans_manual_omp.c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FF88"/>
                </a:solidFill>
                <a:latin typeface="Consolas" pitchFamily="34" charset="0"/>
              </a:rPr>
              <a:t>kmeans_auto_omp.c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B8C4D4"/>
                </a:solidFill>
                <a:latin typeface="Consolas" pitchFamily="34" charset="0"/>
              </a:rPr>
              <a:t>fcm_seq.c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B8C4D4"/>
                </a:solidFill>
                <a:latin typeface="Consolas" pitchFamily="34" charset="0"/>
              </a:rPr>
              <a:t>fcm_manual_omp.c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FF88"/>
                </a:solidFill>
                <a:latin typeface="Consolas" pitchFamily="34" charset="0"/>
              </a:rPr>
              <a:t>fcm_auto_omp.c</a:t>
            </a:r>
          </a:p>
        </p:txBody>
      </p:sp>
      <p:sp>
        <p:nvSpPr>
          <p:cNvPr id="20" name="Box PythonModules"/>
          <p:cNvSpPr/>
          <p:nvPr/>
        </p:nvSpPr>
        <p:spPr>
          <a:xfrm>
            <a:off x="4206480" y="1371600"/>
            <a:ext cx="3749040" cy="4800600"/>
          </a:xfrm>
          <a:prstGeom prst="rect">
            <a:avLst/>
          </a:prstGeom>
          <a:solidFill>
            <a:srgbClr val="0A1428"/>
          </a:solidFill>
          <a:ln w="1905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Header PythonModules"/>
          <p:cNvSpPr/>
          <p:nvPr/>
        </p:nvSpPr>
        <p:spPr>
          <a:xfrm>
            <a:off x="4206480" y="1371600"/>
            <a:ext cx="3749040" cy="502920"/>
          </a:xfrm>
          <a:prstGeom prst="rect">
            <a:avLst/>
          </a:prstGeom>
          <a:solidFill>
            <a:srgbClr val="7B2F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PythonHeader"/>
          <p:cNvSpPr/>
          <p:nvPr/>
        </p:nvSpPr>
        <p:spPr>
          <a:xfrm>
            <a:off x="429792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</a:rPr>
              <a:t>Python Tool Modules</a:t>
            </a:r>
          </a:p>
        </p:txBody>
      </p:sp>
      <p:sp>
        <p:nvSpPr>
          <p:cNvPr id="23" name="Text PythonModulesList"/>
          <p:cNvSpPr/>
          <p:nvPr/>
        </p:nvSpPr>
        <p:spPr>
          <a:xfrm>
            <a:off x="4297920" y="1965960"/>
            <a:ext cx="3566160" cy="412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analyzer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detects and classifies loops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generator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inserts OpenMP pragmas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compiler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compiles C files with GCC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benchmark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measures runtime and speedup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reports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exports CSV / JSON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</a:rPr>
              <a:t>plotting</a:t>
            </a:r>
            <a:r>
              <a:rPr lang="en-US" sz="1600" dirty="0">
                <a:solidFill>
                  <a:srgbClr val="B8C4D4"/>
                </a:solidFill>
                <a:latin typeface="Calibri" pitchFamily="34" charset="0"/>
              </a:rPr>
              <a:t>  generates figures</a:t>
            </a:r>
          </a:p>
        </p:txBody>
      </p:sp>
      <p:sp>
        <p:nvSpPr>
          <p:cNvPr id="30" name="Box MainOutputs"/>
          <p:cNvSpPr/>
          <p:nvPr/>
        </p:nvSpPr>
        <p:spPr>
          <a:xfrm>
            <a:off x="8228160" y="1371600"/>
            <a:ext cx="3466440" cy="4800600"/>
          </a:xfrm>
          <a:prstGeom prst="rect">
            <a:avLst/>
          </a:prstGeom>
          <a:solidFill>
            <a:srgbClr val="0A1428"/>
          </a:solidFill>
          <a:ln w="1905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Header MainOutputs"/>
          <p:cNvSpPr/>
          <p:nvPr/>
        </p:nvSpPr>
        <p:spPr>
          <a:xfrm>
            <a:off x="8228160" y="1371600"/>
            <a:ext cx="3466440" cy="502920"/>
          </a:xfrm>
          <a:prstGeom prst="rect">
            <a:avLst/>
          </a:prstGeom>
          <a:solidFill>
            <a:srgbClr val="FFB80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OutputsHeader"/>
          <p:cNvSpPr/>
          <p:nvPr/>
        </p:nvSpPr>
        <p:spPr>
          <a:xfrm>
            <a:off x="8319600" y="1417320"/>
            <a:ext cx="3283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</a:rPr>
              <a:t>Main Outputs</a:t>
            </a:r>
          </a:p>
        </p:txBody>
      </p:sp>
      <p:sp>
        <p:nvSpPr>
          <p:cNvPr id="33" name="Text OutputsList"/>
          <p:cNvSpPr/>
          <p:nvPr/>
        </p:nvSpPr>
        <p:spPr>
          <a:xfrm>
            <a:off x="8319600" y="1965960"/>
            <a:ext cx="3283560" cy="412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FF88"/>
                </a:solidFill>
                <a:latin typeface="Calibri" pitchFamily="34" charset="0"/>
              </a:rPr>
              <a:t>→ Auto-generated OpenMP C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B800"/>
                </a:solidFill>
                <a:latin typeface="Calibri" pitchFamily="34" charset="0"/>
              </a:rPr>
              <a:t>→ Benchmark CSV files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B800"/>
                </a:solidFill>
                <a:latin typeface="Calibri" pitchFamily="34" charset="0"/>
              </a:rPr>
              <a:t>→ Analysis JSON reports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</a:rPr>
              <a:t>→ Runtime, speedup &amp; efficiency plots</a:t>
            </a:r>
          </a:p>
        </p:txBody>
      </p:sp>
      <p:sp>
        <p:nvSpPr>
          <p:cNvPr id="99" name="Text PageNum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Results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1554480"/>
          </a:xfrm>
          <a:prstGeom prst="rect">
            <a:avLst/>
          </a:prstGeom>
          <a:solidFill>
            <a:srgbClr val="0A1428"/>
          </a:solidFill>
          <a:ln w="19050">
            <a:solidFill>
              <a:srgbClr val="00FF88"/>
            </a:solidFill>
            <a:prstDash val="solid"/>
          </a:ln>
          <a:effectLst>
            <a:outerShdw blurRad="203200" dist="50800" dir="8100000" algn="bl" rotWithShape="0">
              <a:srgbClr val="00FF88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2606040" cy="54864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5.12x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94360" y="22128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Speedup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532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10128" y="1371600"/>
            <a:ext cx="2606040" cy="1554480"/>
          </a:xfrm>
          <a:prstGeom prst="rect">
            <a:avLst/>
          </a:prstGeom>
          <a:solidFill>
            <a:srgbClr val="0A1428"/>
          </a:solidFill>
          <a:ln w="19050">
            <a:solidFill>
              <a:srgbClr val="00D4FF"/>
            </a:solidFill>
            <a:prstDash val="solid"/>
          </a:ln>
          <a:effectLst>
            <a:outerShdw blurRad="203200" dist="50800" dir="8100000" algn="bl" rotWithShape="0">
              <a:srgbClr val="00D4F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10128" y="1371600"/>
            <a:ext cx="2606040" cy="54864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01568" y="14813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80.47%</a:t>
            </a:r>
            <a:endParaRPr lang="en-US" sz="4400" dirty="0"/>
          </a:p>
        </p:txBody>
      </p:sp>
      <p:sp>
        <p:nvSpPr>
          <p:cNvPr id="14" name="Text 11"/>
          <p:cNvSpPr/>
          <p:nvPr/>
        </p:nvSpPr>
        <p:spPr>
          <a:xfrm>
            <a:off x="3401568" y="22128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Reduction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17336" y="1371600"/>
            <a:ext cx="2606040" cy="1554480"/>
          </a:xfrm>
          <a:prstGeom prst="rect">
            <a:avLst/>
          </a:prstGeom>
          <a:solidFill>
            <a:srgbClr val="0A1428"/>
          </a:solidFill>
          <a:ln w="19050">
            <a:solidFill>
              <a:srgbClr val="7B2FFF"/>
            </a:solidFill>
            <a:prstDash val="solid"/>
          </a:ln>
          <a:effectLst>
            <a:outerShdw blurRad="203200" dist="50800" dir="8100000" algn="bl" rotWithShape="0">
              <a:srgbClr val="7B2FFF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17336" y="1371600"/>
            <a:ext cx="2606040" cy="54864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208776" y="14813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6208776" y="22128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08776" y="2532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checksums passed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924544" y="1371600"/>
            <a:ext cx="2606040" cy="1554480"/>
          </a:xfrm>
          <a:prstGeom prst="rect">
            <a:avLst/>
          </a:prstGeom>
          <a:solidFill>
            <a:srgbClr val="0A1428"/>
          </a:solidFill>
          <a:ln w="19050">
            <a:solidFill>
              <a:srgbClr val="FFB800"/>
            </a:solidFill>
            <a:prstDash val="solid"/>
          </a:ln>
          <a:effectLst>
            <a:outerShdw blurRad="203200" dist="50800" dir="8100000" algn="bl" rotWithShape="0">
              <a:srgbClr val="FFB8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8924544" y="1371600"/>
            <a:ext cx="2606040" cy="54864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015984" y="1481328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9015984" y="221284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Configs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015984" y="253288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4, 8 threads</a:t>
            </a:r>
            <a:endParaRPr lang="en-US" sz="1000" dirty="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3429586491"/>
              </p:ext>
            </p:extLst>
          </p:nvPr>
        </p:nvGraphicFramePr>
        <p:xfrm>
          <a:off x="502920" y="310896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Chart 1"/>
          <p:cNvGraphicFramePr/>
          <p:nvPr>
            <p:extLst>
              <p:ext uri="{D42A27DB-BD31-4B8C-83A1-F6EECF244321}">
                <p14:modId xmlns:p14="http://schemas.microsoft.com/office/powerpoint/2010/main" val="3829658873"/>
              </p:ext>
            </p:extLst>
          </p:nvPr>
        </p:nvGraphicFramePr>
        <p:xfrm>
          <a:off x="6263640" y="310896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8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Discussion</a:t>
            </a:r>
            <a:endParaRPr lang="en-US" sz="3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861979672"/>
              </p:ext>
            </p:extLst>
          </p:nvPr>
        </p:nvGraphicFramePr>
        <p:xfrm>
          <a:off x="6583680" y="132588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02920" y="1417320"/>
            <a:ext cx="5806440" cy="100584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502920" y="1463040"/>
            <a:ext cx="36576" cy="9144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5"/>
          <p:cNvSpPr/>
          <p:nvPr/>
        </p:nvSpPr>
        <p:spPr>
          <a:xfrm>
            <a:off x="502920" y="2606040"/>
            <a:ext cx="5806440" cy="100584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502920" y="2651760"/>
            <a:ext cx="36576" cy="91440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02920" y="3794760"/>
            <a:ext cx="5806440" cy="100584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02920" y="3840480"/>
            <a:ext cx="36576" cy="9144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02920" y="4983480"/>
            <a:ext cx="5806440" cy="100584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502920" y="5029200"/>
            <a:ext cx="36576" cy="914400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02920" y="6263640"/>
            <a:ext cx="11155680" cy="475488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920" y="6309360"/>
            <a:ext cx="36576" cy="384048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6291072"/>
            <a:ext cx="10789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 governs the ceiling. The sequential centroid-update phase limits maximum theoretical speedup regardless of thread count.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09928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155448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reduced from 4.281s to 1.369s — a 68% improvement at 8 threads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08736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931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1-thread OMP was slower (5.188s vs 4.281s) due to OpenMP runtime overhead</a:t>
            </a:r>
            <a:endParaRPr lang="en-US" sz="13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5276088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34440" y="512064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drops at 8 threads due to Amdahl's Law: remaining sequential sections limit scaling</a:t>
            </a:r>
            <a:endParaRPr lang="en-US" sz="13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898648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234440" y="27432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OpenMP configurations passed checksum correctness 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5120640" cy="429768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371600"/>
            <a:ext cx="36576" cy="4206240"/>
          </a:xfrm>
          <a:prstGeom prst="rect">
            <a:avLst/>
          </a:prstGeom>
          <a:solidFill>
            <a:srgbClr val="FF3D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F3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Pattern-based parser, not a full AST compiler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272491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Best suited for controlled C code patterns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621024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Complex pointer aliasing not fully analyzed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451713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Centroid-update loops require manual review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1325880"/>
            <a:ext cx="5440680" cy="4297680"/>
          </a:xfrm>
          <a:prstGeom prst="rect">
            <a:avLst/>
          </a:prstGeom>
          <a:solidFill>
            <a:srgbClr val="0A1428"/>
          </a:solidFill>
          <a:ln w="12700">
            <a:solidFill>
              <a:srgbClr val="1A305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172200" y="1371600"/>
            <a:ext cx="36576" cy="4206240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09360" y="1417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09360" y="2011680"/>
            <a:ext cx="365760" cy="365760"/>
          </a:xfrm>
          <a:prstGeom prst="lin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291072" y="2011680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492240" y="2377440"/>
            <a:ext cx="0" cy="347472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12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Clang AST Analysis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12280" y="2240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regex parser with full compiler frontend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09360" y="2907792"/>
            <a:ext cx="365760" cy="365760"/>
          </a:xfrm>
          <a:prstGeom prst="lin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291072" y="2907792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492240" y="3273552"/>
            <a:ext cx="0" cy="347472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12280" y="28163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Centroid Transform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812280" y="31363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local-buffer reduction patterns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09360" y="3803904"/>
            <a:ext cx="365760" cy="365760"/>
          </a:xfrm>
          <a:prstGeom prst="line">
            <a:avLst/>
          </a:prstGeom>
          <a:solidFill>
            <a:srgbClr val="7B2FFF">
              <a:alpha val="7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291072" y="3803904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492240" y="4169664"/>
            <a:ext cx="0" cy="347472"/>
          </a:xfrm>
          <a:prstGeom prst="line">
            <a:avLst/>
          </a:prstGeom>
          <a:noFill/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12280" y="371246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 Selection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12280" y="4032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vs static scheduling based on workload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309360" y="4700016"/>
            <a:ext cx="365760" cy="365760"/>
          </a:xfrm>
          <a:prstGeom prst="line">
            <a:avLst/>
          </a:prstGeom>
          <a:solidFill>
            <a:srgbClr val="00FF88">
              <a:alpha val="7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291072" y="4700016"/>
            <a:ext cx="402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v4.0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812280" y="46085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12280" y="492861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OpenACC and CUDA code generation support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50A18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0292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02920" y="1408176"/>
            <a:ext cx="36576" cy="193852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2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4630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Source-to-Source Prototype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94360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lightweight OpenMP auto-parallelizer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10128" y="1371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310128" y="1408176"/>
            <a:ext cx="36576" cy="1938528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401568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2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14630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01568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Loop Detection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401568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identification of safe assignment loops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17336" y="1371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117336" y="1408176"/>
            <a:ext cx="36576" cy="1938528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6208776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22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4630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08776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 Loop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08776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clustering membership-update loop classification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8924544" y="1371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924544" y="1408176"/>
            <a:ext cx="36576" cy="1938528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015984" y="1463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22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6224" y="14630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15984" y="1965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Classification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015984" y="2514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Red/yellow/green decision engine for race conditions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02920" y="3657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502920" y="3694176"/>
            <a:ext cx="36576" cy="193852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9436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22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4600" y="3749040"/>
            <a:ext cx="411480" cy="41148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94360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Workload-Aware Decisions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94360" y="4800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Parallelization threshold based on loop size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3310128" y="3657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29"/>
          <p:cNvSpPr/>
          <p:nvPr/>
        </p:nvSpPr>
        <p:spPr>
          <a:xfrm>
            <a:off x="3310128" y="3694176"/>
            <a:ext cx="36576" cy="1938528"/>
          </a:xfrm>
          <a:prstGeom prst="rect">
            <a:avLst/>
          </a:prstGeom>
          <a:solidFill>
            <a:srgbClr val="00FF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0"/>
          <p:cNvSpPr/>
          <p:nvPr/>
        </p:nvSpPr>
        <p:spPr>
          <a:xfrm>
            <a:off x="3401568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</a:t>
            </a:r>
            <a:endParaRPr lang="en-US" sz="22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808" y="3749040"/>
            <a:ext cx="411480" cy="41148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401568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Benchmark Suite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3401568" y="4800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speedup, efficiency, and correctness metrics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6117336" y="3657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117336" y="3694176"/>
            <a:ext cx="36576" cy="193852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5"/>
          <p:cNvSpPr/>
          <p:nvPr/>
        </p:nvSpPr>
        <p:spPr>
          <a:xfrm>
            <a:off x="6208776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</a:t>
            </a:r>
            <a:endParaRPr lang="en-US" sz="220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29016" y="3749040"/>
            <a:ext cx="411480" cy="4114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208776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Evaluation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6208776" y="4800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and JSON export for research reproducibility</a:t>
            </a:r>
            <a:endParaRPr lang="en-US" sz="1100" dirty="0"/>
          </a:p>
        </p:txBody>
      </p:sp>
      <p:sp>
        <p:nvSpPr>
          <p:cNvPr id="48" name="Shape 38"/>
          <p:cNvSpPr/>
          <p:nvPr/>
        </p:nvSpPr>
        <p:spPr>
          <a:xfrm>
            <a:off x="8924544" y="3657600"/>
            <a:ext cx="2606040" cy="2011680"/>
          </a:xfrm>
          <a:prstGeom prst="rect">
            <a:avLst/>
          </a:prstGeom>
          <a:solidFill>
            <a:srgbClr val="0A1428"/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39"/>
          <p:cNvSpPr/>
          <p:nvPr/>
        </p:nvSpPr>
        <p:spPr>
          <a:xfrm>
            <a:off x="8924544" y="3694176"/>
            <a:ext cx="36576" cy="1938528"/>
          </a:xfrm>
          <a:prstGeom prst="rect">
            <a:avLst/>
          </a:prstGeom>
          <a:solidFill>
            <a:srgbClr val="FFB8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0"/>
          <p:cNvSpPr/>
          <p:nvPr/>
        </p:nvSpPr>
        <p:spPr>
          <a:xfrm>
            <a:off x="9015984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</a:t>
            </a:r>
            <a:endParaRPr lang="en-US" sz="220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6224" y="3749040"/>
            <a:ext cx="411480" cy="4114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9015984" y="4251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Paper-Ready Plots</a:t>
            </a:r>
            <a:endParaRPr lang="en-US" sz="1300" dirty="0"/>
          </a:p>
        </p:txBody>
      </p:sp>
      <p:sp>
        <p:nvSpPr>
          <p:cNvPr id="53" name="Text 42"/>
          <p:cNvSpPr/>
          <p:nvPr/>
        </p:nvSpPr>
        <p:spPr>
          <a:xfrm>
            <a:off x="9015984" y="4800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Publication-quality performance visualizations</a:t>
            </a:r>
            <a:endParaRPr lang="en-US" sz="1100" dirty="0"/>
          </a:p>
        </p:txBody>
      </p:sp>
      <p:sp>
        <p:nvSpPr>
          <p:cNvPr id="54" name="Text 4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5486400" cy="3657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9144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0" y="132588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AutoCluster-OMP</a:t>
            </a:r>
            <a:endParaRPr lang="en-US" sz="6000" dirty="0"/>
          </a:p>
        </p:txBody>
      </p:sp>
      <p:sp>
        <p:nvSpPr>
          <p:cNvPr id="7" name="Text 3"/>
          <p:cNvSpPr/>
          <p:nvPr/>
        </p:nvSpPr>
        <p:spPr>
          <a:xfrm>
            <a:off x="1371600" y="24231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that clustering loop patterns can be detected 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B8C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parallelized automatically — without human intervention.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502920" y="3474720"/>
            <a:ext cx="2057400" cy="54864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02920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Detection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770632" y="3474720"/>
            <a:ext cx="2057400" cy="548640"/>
          </a:xfrm>
          <a:prstGeom prst="rect">
            <a:avLst/>
          </a:prstGeom>
          <a:solidFill>
            <a:srgbClr val="7B2FFF">
              <a:alpha val="20000"/>
            </a:srgbClr>
          </a:solidFill>
          <a:ln w="12700">
            <a:solidFill>
              <a:srgbClr val="7B2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2770632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Parallelism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38344" y="3474720"/>
            <a:ext cx="2057400" cy="548640"/>
          </a:xfrm>
          <a:prstGeom prst="rect">
            <a:avLst/>
          </a:prstGeom>
          <a:solidFill>
            <a:srgbClr val="00FF88">
              <a:alpha val="20000"/>
            </a:srgbClr>
          </a:solidFill>
          <a:ln w="12700">
            <a:solidFill>
              <a:srgbClr val="00FF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038344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Output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06056" y="3474720"/>
            <a:ext cx="2057400" cy="548640"/>
          </a:xfrm>
          <a:prstGeom prst="rect">
            <a:avLst/>
          </a:prstGeom>
          <a:solidFill>
            <a:srgbClr val="FFB800">
              <a:alpha val="20000"/>
            </a:srgbClr>
          </a:solidFill>
          <a:ln w="12700">
            <a:solidFill>
              <a:srgbClr val="FFB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306056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3.13× Speedup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573768" y="3474720"/>
            <a:ext cx="2057400" cy="548640"/>
          </a:xfrm>
          <a:prstGeom prst="rect">
            <a:avLst/>
          </a:prstGeom>
          <a:solidFill>
            <a:srgbClr val="FF3D5E">
              <a:alpha val="20000"/>
            </a:srgbClr>
          </a:solidFill>
          <a:ln w="12700">
            <a:solidFill>
              <a:srgbClr val="FF3D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9573768" y="3474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Race Conditions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286000" y="4251960"/>
            <a:ext cx="7589520" cy="18288"/>
          </a:xfrm>
          <a:prstGeom prst="rect">
            <a:avLst/>
          </a:prstGeom>
          <a:solidFill>
            <a:srgbClr val="00D4F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0" y="443484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Yasser Goma  ·  Abdullah Ismail  ·  Mohamed Khaled  ·  Mohamed Saleh  ·  Ahmed Sayed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0" y="480060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5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CSCI465 · Introduction to Parallel Computing </a:t>
            </a:r>
            <a:endParaRPr lang="en-US" sz="1400" b="1" dirty="0"/>
          </a:p>
        </p:txBody>
      </p:sp>
      <p:sp>
        <p:nvSpPr>
          <p:cNvPr id="21" name="Text 17"/>
          <p:cNvSpPr/>
          <p:nvPr/>
        </p:nvSpPr>
        <p:spPr>
          <a:xfrm>
            <a:off x="0" y="525780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2" name="Shape 18"/>
          <p:cNvSpPr/>
          <p:nvPr/>
        </p:nvSpPr>
        <p:spPr>
          <a:xfrm>
            <a:off x="274320" y="228600"/>
            <a:ext cx="548640" cy="36576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74320" y="228600"/>
            <a:ext cx="36576" cy="4572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11338560" y="6592824"/>
            <a:ext cx="548640" cy="36576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11850624" y="6172200"/>
            <a:ext cx="36576" cy="457200"/>
          </a:xfrm>
          <a:prstGeom prst="rect">
            <a:avLst/>
          </a:prstGeom>
          <a:solidFill>
            <a:srgbClr val="7B2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1088</Words>
  <Application>Microsoft Office PowerPoint</Application>
  <PresentationFormat>Widescreen</PresentationFormat>
  <Paragraphs>304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yasser goma</cp:lastModifiedBy>
  <cp:revision>7</cp:revision>
  <dcterms:created xsi:type="dcterms:W3CDTF">2026-05-16T09:01:10Z</dcterms:created>
  <dcterms:modified xsi:type="dcterms:W3CDTF">2026-05-16T14:26:53Z</dcterms:modified>
</cp:coreProperties>
</file>